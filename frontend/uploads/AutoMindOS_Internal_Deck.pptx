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457200"/>
            <a:ext cx="155448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72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AUTOMIND 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96012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The AI Operating System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for Car Showrooms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94360" y="26517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</a:rPr>
              <a:t>20 AI Agents  ·  15+ Languages  ·  UAE · USA · UK  ·  End-to-End Automation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3154680"/>
            <a:ext cx="7772400" cy="0"/>
          </a:xfrm>
          <a:prstGeom prst="line">
            <a:avLst/>
          </a:prstGeom>
          <a:noFill/>
          <a:ln w="12700">
            <a:solidFill>
              <a:srgbClr val="1E3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291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Internal Product Brief  —  For Development, Sales &amp; Marketing Teams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3794760"/>
            <a:ext cx="1828800" cy="8686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8221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94360" y="4233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AI Agents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97480" y="3794760"/>
            <a:ext cx="1828800" cy="8686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38221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15+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97480" y="4233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Languages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00600" y="3794760"/>
            <a:ext cx="1828800" cy="8686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8221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&lt; 30s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00600" y="4233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Lead Response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03720" y="3794760"/>
            <a:ext cx="1828800" cy="8686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38221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24/7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03720" y="4233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Always 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 / 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</a:rPr>
              <a:t>What Is AutoMind OS?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320040"/>
            <a:ext cx="54864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05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</a:rPr>
              <a:t>Not a chatbot. Not a CRM. An AI Operating System that runs every customer touchpoint — from first Instagram comment to 3-year post-sale anniversary — automatically.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737360"/>
            <a:ext cx="6400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013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🤖  For Developers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0848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 20-agent modular system built on WhatsApp Business API, VAPI/Bland for voice, and n8n/Make for orchestration. Each agent is a discrete module with defined inputs, outputs, and integrations.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761488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761488"/>
            <a:ext cx="6400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8254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💼  For Sales Team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108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 single product that replaces 5–6 separate tools a showroom currently juggles. Sell it as the only AI OS purpose-built for car showrooms — not adapted from US software.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785616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3785616"/>
            <a:ext cx="6400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8496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📣  For Marketing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413308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Position as: 'The world's first WhatsApp-native, voice-cloned, multilingual AI OS for car showrooms.' Clear differentiation from every existing competitor globally.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</a:rPr>
              <a:t>Target Markets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320040"/>
            <a:ext cx="54864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</a:rPr>
              <a:t>Same platform. Adapted per market. Not rebuilt.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25880"/>
            <a:ext cx="27432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5331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🇦🇪  UAE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75688" y="1463040"/>
            <a:ext cx="960120" cy="201168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75688" y="1453896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PHASE 1 — NOW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Launch market — warm contacts ready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WhatsApp-first communication channel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200+ nationalities = multilingual critical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Dubizzle + YallaMotor lead integrations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Emirates ID, UAE VAT, RTA compliance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SME showrooms severely underserved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55848" y="132588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55848" y="1325880"/>
            <a:ext cx="27432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3008" y="135331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🇬🇧  UK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0056" y="1463040"/>
            <a:ext cx="960120" cy="201168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0056" y="1453896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PHASE 3 — YEAR 2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3493008" y="192024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Large independent showroom market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SMS primary channel (not WhatsApp)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GDPR compliance layer required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German Mittelstand dealers also targeted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Compete at significantly lower price than Impel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Enter with UAE + GCC proof data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0216" y="132588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0216" y="1325880"/>
            <a:ext cx="2743200" cy="502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37376" y="135331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🇺🇸  USA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964424" y="1463040"/>
            <a:ext cx="960120" cy="201168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64424" y="1453896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PHASE 4 — YEAR 3+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6437376" y="192024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600K+ independent dealerships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SMS + phone primary channels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TCPA compliance required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CDK DMS integration needed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Spanish language addition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Compete with Numa/Podium at half the price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</a:rPr>
              <a:t>The Problem We Solve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320040"/>
            <a:ext cx="54864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961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</a:rPr>
              <a:t>Car showrooms across UAE, UK, and USA are leaking revenue every single day through 3 avoidable failures.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63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F4444"/>
                </a:solidFill>
              </a:rPr>
              <a:t>3+ hrs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Avg. lead response time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Slow Lead Response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Customer sends WhatsApp or fills web form. Staff are busy. By the time someone replies, the lead has already visited a competitor showroom. 60% of leads are lost this way.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3657600"/>
            <a:ext cx="2560320" cy="77724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367588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 AutoMind OS responds in &lt; 30 seconds, 24/7, across all channels simultaneously.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55848" y="137160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93008" y="1463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9E0B"/>
                </a:solidFill>
              </a:rPr>
              <a:t>40%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493008" y="20848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Of inbound calls unanswered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93008" y="2331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Missed Calls = Missed Sales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93008" y="26517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Staff are on the floor, on test drives, or after hours. Every unanswered call is a missed sale. No voicemail system converts. No human calls back consistently.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47288" y="3657600"/>
            <a:ext cx="2560320" cy="77724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367588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 AI inbound call handler picks up every call in the salesperson's cloned voice.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00216" y="137160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37376" y="1463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9488"/>
                </a:solidFill>
              </a:rPr>
              <a:t>50%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437376" y="20848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Of service revenue untapped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37376" y="2331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Zero Post-Sale Retention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37376" y="26517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Once a car is sold, most showrooms never proactively contact the buyer again. No service reminders. No upgrade offers. No referral asks. Repeat business — the highest-margin revenue — is abandoned.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91656" y="3657600"/>
            <a:ext cx="2560320" cy="77724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64808" y="367588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 Automated Day 7 / 30 / 90 retention sequences recover this revenue passively.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AutoMind OS 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320040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B8A6"/>
                </a:solidFill>
              </a:rPr>
              <a:t>20 AI agents. 4 phases. One platform. Every customer touchpoint automated.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011680" cy="3429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201168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7160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1371600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ENTRY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6642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Lead Capture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68680" y="2057400"/>
            <a:ext cx="82296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0574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 Agents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237744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WhatsApp, calls, social, outbound — every channel covered in &lt; 30s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77440" y="2880360"/>
            <a:ext cx="20116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78608" y="1325880"/>
            <a:ext cx="2011680" cy="3429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78608" y="1325880"/>
            <a:ext cx="201168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88336" y="137160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081528" y="1371600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QUALIFY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81528" y="16642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&amp; Match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081528" y="2057400"/>
            <a:ext cx="822960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81528" y="20574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 Agents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15768" y="237744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5-layer scoring, live inventory, AI recommendations, negotiation support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90288" y="2880360"/>
            <a:ext cx="20116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91456" y="1325880"/>
            <a:ext cx="2011680" cy="3429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91456" y="1325880"/>
            <a:ext cx="2011680" cy="6400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1184" y="137160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294376" y="1371600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TRANSACTION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94376" y="16642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&amp; Operations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294376" y="2057400"/>
            <a:ext cx="822960" cy="21945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94376" y="20574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 Agents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28616" y="237744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Test drives, multi-currency FX, documents, compliance, logistics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03136" y="2880360"/>
            <a:ext cx="20116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04304" y="1325880"/>
            <a:ext cx="2011680" cy="3429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04304" y="1325880"/>
            <a:ext cx="201168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14032" y="137160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507224" y="1371600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RETENTION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507224" y="16642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&amp; Growth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507224" y="2057400"/>
            <a:ext cx="82296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07224" y="20574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 Agents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141464" y="237744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Day 7/30/90 follow-ups, review AI, upsell engine, manager dashboard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617720"/>
            <a:ext cx="8394192" cy="32004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636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4B8A6"/>
                </a:solidFill>
              </a:rPr>
              <a:t>↺  Feedback Loop: Phase 4 post-sale data feeds back into Phase 2 lead scoring — system intelligence compounds with every sale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Phase 1  —  ENTRY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0" y="914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CFBF1"/>
                </a:solidFill>
              </a:rPr>
              <a:t>Lead Capture  ·  5 Agents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8321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0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Sales Chatbot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WhatsApp + Website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46120" y="9601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24/7 automated responses to all inbound inquiries via WhatsApp Business API and website chat. Captures name, intent, vehicle interest.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675120" y="960120"/>
            <a:ext cx="1965960" cy="594360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9601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Stack: Respond.io / Manychat + WhatsApp Business API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1480" y="1700784"/>
            <a:ext cx="832104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764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Inbound Call Handler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0848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Voice AI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46120" y="176479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Answers every inbound call in the cloned voice of the assigned salesperson. Handles FAQs, captures intent, books callbacks or test drives.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675120" y="1764792"/>
            <a:ext cx="1965960" cy="594360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176479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Stack: VAPI / Bland AI + ElevenLabs voice cloning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2505456"/>
            <a:ext cx="8321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5694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Social DM Agent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28895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Instagram · TikTok · Facebook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46120" y="256946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Monitors and auto-responds to comments and DMs across social platforms. Moves hot leads to WhatsApp for full qualification flow.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75120" y="2569464"/>
            <a:ext cx="1965960" cy="594360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56946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Stack: Make.com + Meta Business API + TikTok API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1480" y="3310128"/>
            <a:ext cx="832104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3741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Outbound Calling Agent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36941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CRM Re-engagement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46120" y="337413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Proactively calls dormant leads from the CRM using a cloned salesperson voice. Re-qualifies interest and books follow-up appointments.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675120" y="3374136"/>
            <a:ext cx="1965960" cy="594360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3374136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Stack: VAPI + CRM webhook integration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11480" y="4114800"/>
            <a:ext cx="8321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178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Predictive Lead Prioritizer ⭐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44988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New Agent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46120" y="417880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Scores every incoming lead by intent signals, behavior, and channel. Pushes high-intent leads to human salespeople immediately, routes others to automation.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675120" y="4178808"/>
            <a:ext cx="1965960" cy="594360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417880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Stack: Custom ML model or GPT-4 scoring layer on top of lead data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Phase 2  —  QUALIFY &amp; MATCH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0" y="914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0F7FF"/>
                </a:solidFill>
              </a:rPr>
              <a:t>Lead Scoring &amp; Vehicle Matching  ·  5 Agents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8321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0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Lead Qualification 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5-Layer Scoring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46120" y="9601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Scores leads on: Budget · Lifestyle · Urgency · Timeline · Seriousness. Determines if the lead goes to human or continues in automation flow.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675120" y="960120"/>
            <a:ext cx="1965960" cy="594360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9601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Stack: GPT-4 prompt chain + scoring rubric + CRM write-back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1480" y="1700784"/>
            <a:ext cx="832104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764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Inventory Discovery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0848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Live Stock + Auctions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46120" y="176479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Connects to live showroom inventory and regional auction feeds. Matches available stock to lead profile in real time.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675120" y="1764792"/>
            <a:ext cx="1965960" cy="594360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176479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Stack: Inventory API / CSV sync + custom matching logic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2505456"/>
            <a:ext cx="8321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5694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Recommendation Engine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28895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Personalised Picks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46120" y="256946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Generates 2–3 personalised car recommendations per qualified lead based on their scoring profile, budget, and preferences.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75120" y="2569464"/>
            <a:ext cx="1965960" cy="594360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56946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Stack: GPT-4 with inventory context + WhatsApp rich media cards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1480" y="3310128"/>
            <a:ext cx="832104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3741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Negotiation Support AI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36941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Manager Loop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46120" y="337413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Assists with pricing objections. Passes deal parameters to manager for approval via WhatsApp. Keeps lead warm during approval.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675120" y="3374136"/>
            <a:ext cx="1965960" cy="594360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3374136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Stack: Custom prompt layer + WhatsApp manager notification flow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11480" y="4114800"/>
            <a:ext cx="8321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178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Dynamic Trade-In Valuator ⭐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44988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New Agent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46120" y="417880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Accepts VIN + photos via WhatsApp. Returns instant AI-based trade-in valuation. Removes friction from the part-exchange conversation.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675120" y="4178808"/>
            <a:ext cx="1965960" cy="594360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417880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Stack: VIN decoder API + image recognition model + valuation dataset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Phase 3  —  TRANSACTION &amp; OPS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0" y="914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Deal Closing &amp; Operations  ·  5 Agents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8321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0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Test Drive Booking 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F1"/>
                </a:solidFill>
              </a:rPr>
              <a:t>Appointment Automation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46120" y="9601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Books test drives via WhatsApp or SMS. Sends 3 timed reminders. Detects no-shows and triggers recovery sequences automatically.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675120" y="960120"/>
            <a:ext cx="1965960" cy="594360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9601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Stack: Calendar API + WhatsApp/SMS trigger via Make.com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1480" y="1700784"/>
            <a:ext cx="832104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764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Multi-Currency Pricing AI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0848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F1"/>
                </a:solidFill>
              </a:rPr>
              <a:t>Live FX Rates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46120" y="176479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Displays vehicle pricing in any currency (AED, GBP, USD, RUB, JPY, PKR) using live FX data. Critical for UAE's international buyer base.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675120" y="1764792"/>
            <a:ext cx="1965960" cy="594360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176479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Stack: OpenExchangeRates API + WhatsApp message template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2505456"/>
            <a:ext cx="8321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5694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Warranty Verification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28895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F1"/>
                </a:solidFill>
              </a:rPr>
              <a:t>Condition Cross-Check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46120" y="256946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Cross-checks vehicle condition against listing description and warranty terms before deal confirmation. Prevents disputes post-sale.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75120" y="2569464"/>
            <a:ext cx="1965960" cy="594360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56946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Stack: Custom logic layer + document parser + vehicle history API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1480" y="3310128"/>
            <a:ext cx="832104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3741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Shipping &amp; Logistics AI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36941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F1"/>
                </a:solidFill>
              </a:rPr>
              <a:t>International Delivery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46120" y="337413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Handles customs documentation, freight coordination, and live WhatsApp/SMS tracking updates for vehicles being shipped internationally.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675120" y="3374136"/>
            <a:ext cx="1965960" cy="594360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3374136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Stack: Freight API integration + WhatsApp tracking notifications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11480" y="4114800"/>
            <a:ext cx="8321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178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Document &amp; Compliance AI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44988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F1"/>
                </a:solidFill>
              </a:rPr>
              <a:t>Market-Specific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46120" y="417880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UAE: Emirates ID, VAT invoice, RTA checklist. UK: GDPR data handling. USA: State-specific compliance. Generates and sends correct documents per market.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675120" y="4178808"/>
            <a:ext cx="1965960" cy="594360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417880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Stack: Document generation API + e-signature + market compliance rules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Phase 4  —  RETENTION &amp; GROWTH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0" y="914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EF3C7"/>
                </a:solidFill>
              </a:rPr>
              <a:t>Post-Sale Automation  ·  5 Agents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8321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0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Post-Sale Follow-Up 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Day 7 / 30 / 90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46120" y="9601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Day 7: Cloned voice check-in call. Day 30: Service reminder + booking link. Day 90: Upsell signal + satisfaction check. All automated.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675120" y="960120"/>
            <a:ext cx="1965960" cy="594360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9601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Stack: VAPI + WhatsApp sequences via Make.com + CRM trigger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1480" y="1700784"/>
            <a:ext cx="832104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764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Review Collection AI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0848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Reputation Management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46120" y="176479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Detects customer satisfaction from conversation sentiment. Happy → sends Google review link. Unhappy → immediately escalates to manager.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675120" y="1764792"/>
            <a:ext cx="1965960" cy="594360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176479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Stack: Sentiment analysis + Google My Business API + WhatsApp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2505456"/>
            <a:ext cx="8321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5694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Upsell &amp; Repeat Agent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28895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Predictive Timing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46120" y="256946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Tracks ownership timeline and predicts the optimal moment for repeat purchase outreach. Sends personalised upgrade offer at the right time.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75120" y="2569464"/>
            <a:ext cx="1965960" cy="594360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56946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Stack: CRM data + time-based trigger + GPT message personalisation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1480" y="3310128"/>
            <a:ext cx="832104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3741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Predictive Service Reminder 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36941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New Agent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46120" y="337413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Analyses mileage, usage patterns, and service history to send proactive maintenance reminders before the customer even thinks about it.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675120" y="3374136"/>
            <a:ext cx="1965960" cy="594360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3374136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Stack: Service history API + mileage tracking + WhatsApp/SMS trigger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11480" y="4114800"/>
            <a:ext cx="8321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178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Manager Intelligence Dashboard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44988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Daily Briefing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46120" y="417880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Sends owner/manager a daily 8am WhatsApp briefing: active leads, deals closed, missed calls, sentiment alerts, follow-up priorities.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675120" y="4178808"/>
            <a:ext cx="1965960" cy="594360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417880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Stack: Data aggregation layer + WhatsApp Business API message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</a:rPr>
              <a:t>New Operational AI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320040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320040"/>
            <a:ext cx="1828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0" y="320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⭐  From Research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</a:rPr>
              <a:t>5 additional operational agents that push AutoMind OS beyond lead handling into full dealership intelligence.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18928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Inventory Optimizer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21284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Predicts demand by model, color, and spec. Auto-flags slow-moving stock and suggests reorder timing. Reduces overstock holding costs by 15–20%.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83280" y="18928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Sales Forecaster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221284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Analyses historical deal data, seasonal trends, and current pipeline to produce accurate monthly/quarterly sales forecasts for staffing and procurement planning.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80760" y="132588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17920" y="18928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Customer Sentiment Analyzer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221284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Real-time NPS scoring from every chat and call interaction. Detects frustration or dissatisfaction before it becomes a negative review. Escalates automatically.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783080" y="306324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9202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920240" y="36301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AI Financing Matcher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395020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Pre-screens leads for financing eligibility. Simulates monthly payment scenarios. Connects with partner lenders. Removes the financing friction from the buying journey.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17720" y="306324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📣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754880" y="36301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Marketing Automator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395020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Launches personalised re-targeting campaigns to dormant leads. Sends seasonal offers and new model alerts. Tracks which campaigns drive showroom visits.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20040"/>
            <a:ext cx="13716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0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WORLD-FIRST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HumanVoice AI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</a:rPr>
              <a:t>The AI that answers in your salesperson's exact voice.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2011680"/>
            <a:ext cx="4114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0116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0391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Record 30 Minutes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2677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Each salesperson records natural conversation — not a script. Accent, warmth, rhythm, and personality all captured.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743200"/>
            <a:ext cx="4114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74320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7706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AI Builds Voice Model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9992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Custom voice model trained in 24 hours. Tone, pacing, and hesitations fully replicated. Ready to deploy.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474720"/>
            <a:ext cx="4114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4747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5021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Smart Context Routing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37307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Returning customer? Same salesperson's voice answers. Arabic caller? Arabic voice responds. All automatic.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4206240"/>
            <a:ext cx="4114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2062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42336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Showroom Visit Magic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44622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Customer walks in, hears Ahmed's voice, meets Ahmed. They already feel they know him. Sale is half-closed.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4663440"/>
            <a:ext cx="8321040" cy="292608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68172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4B8A6"/>
                </a:solidFill>
              </a:rPr>
              <a:t>Competitive Moat: Every voice model is unique IP. After 12 months, switching means starting over. Churn becomes irrational.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</a:rPr>
              <a:t>Universal Language Engine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320040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961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</a:rPr>
              <a:t>UAE has 200+ nationalities. USA has 40M+ Spanish speakers. UK has 14% non-English speakers. One platform serves all of them.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150876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" y="1399032"/>
            <a:ext cx="1399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Customer sends first message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920240" y="1664208"/>
            <a:ext cx="2103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30552" y="1371600"/>
            <a:ext cx="150876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85416" y="1399032"/>
            <a:ext cx="1399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Language detected in 1 second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39312" y="1664208"/>
            <a:ext cx="2103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9624" y="1371600"/>
            <a:ext cx="150876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04488" y="1399032"/>
            <a:ext cx="1399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Full conversation switches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358384" y="1664208"/>
            <a:ext cx="2103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68696" y="1371600"/>
            <a:ext cx="150876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1399032"/>
            <a:ext cx="1399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Voice calls in same language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077456" y="1664208"/>
            <a:ext cx="2103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87768" y="1371600"/>
            <a:ext cx="150876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42632" y="1399032"/>
            <a:ext cx="1399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All follow-ups adapted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1480" y="2148840"/>
            <a:ext cx="135331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" y="2221992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🇦🇪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11480" y="267919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Arabic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291693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Core UAE + GCC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874520" y="2148840"/>
            <a:ext cx="135331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874520" y="2221992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🇬🇧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874520" y="267919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English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74520" y="291693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Business + expat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337560" y="2148840"/>
            <a:ext cx="135331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337560" y="2221992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🇷🇺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337560" y="267919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Russian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37560" y="291693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500K+ luxury buyers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800600" y="2148840"/>
            <a:ext cx="135331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00600" y="2221992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🇮🇳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800600" y="267919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Hindi/Urdu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0600" y="291693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3.5M Indians in UAE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263640" y="2148840"/>
            <a:ext cx="135331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263640" y="2221992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🇵🇰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263640" y="267919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Urdu/Pashto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63640" y="291693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1.5M Pakistanis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726680" y="2148840"/>
            <a:ext cx="135331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726680" y="2221992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🇫🇷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726680" y="267919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French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726680" y="291693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EU + African tourists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11480" y="3429000"/>
            <a:ext cx="135331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11480" y="3502152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🇨🇳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411480" y="395935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Mandarin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11480" y="419709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Chinese investors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874520" y="3429000"/>
            <a:ext cx="135331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1874520" y="3502152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🇩🇪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1874520" y="395935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German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874520" y="419709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European business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337560" y="3429000"/>
            <a:ext cx="135331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3337560" y="3502152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🇵🇭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3337560" y="395935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Tagalog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337560" y="419709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700K Filipinos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800600" y="3429000"/>
            <a:ext cx="135331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800600" y="3502152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🇧🇩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4800600" y="395935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Bengali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800600" y="419709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700K Bangladeshis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263640" y="3429000"/>
            <a:ext cx="135331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6263640" y="3502152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🇪🇸</a:t>
            </a:r>
            <a:endParaRPr lang="en-US" sz="2200" dirty="0"/>
          </a:p>
        </p:txBody>
      </p:sp>
      <p:sp>
        <p:nvSpPr>
          <p:cNvPr id="61" name="Text 59"/>
          <p:cNvSpPr/>
          <p:nvPr/>
        </p:nvSpPr>
        <p:spPr>
          <a:xfrm>
            <a:off x="6263640" y="395935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Spanish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263640" y="419709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40M+ USA speakers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726680" y="3429000"/>
            <a:ext cx="135331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7726680" y="3502152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65" name="Text 63"/>
          <p:cNvSpPr/>
          <p:nvPr/>
        </p:nvSpPr>
        <p:spPr>
          <a:xfrm>
            <a:off x="7726680" y="395935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+ 4 more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726680" y="419709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Auto-detect any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Full Workflow 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228600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4B8A6"/>
                </a:solidFill>
              </a:rPr>
              <a:t>From first contact to lifetime retention — every step automated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298448" cy="29260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WhatsApp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719072" y="1051560"/>
            <a:ext cx="1298448" cy="29260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19072" y="105156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Instagram/TikTok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163824" y="1051560"/>
            <a:ext cx="1298448" cy="29260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63824" y="105156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Phone Calls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608576" y="1051560"/>
            <a:ext cx="1298448" cy="29260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105156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Website Chat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053328" y="1051560"/>
            <a:ext cx="1298448" cy="29260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53328" y="105156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Dubizzle/YallaMotor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498080" y="1051560"/>
            <a:ext cx="1298448" cy="29260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105156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CRM Outbound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4320" y="1508760"/>
            <a:ext cx="128016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50876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PHASE 1  ENTRY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664208" y="1563624"/>
            <a:ext cx="13258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64208" y="156362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Sales Chatbot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127248" y="1563624"/>
            <a:ext cx="13258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27248" y="156362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Inbound Call AI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90288" y="1563624"/>
            <a:ext cx="13258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0288" y="156362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Social Agent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053328" y="1563624"/>
            <a:ext cx="13258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53328" y="156362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Outbound AI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516368" y="1563624"/>
            <a:ext cx="13258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16368" y="156362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Lead Prioritizer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2331720"/>
            <a:ext cx="128016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33172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PHASE 2  QUALIFY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664208" y="2386584"/>
            <a:ext cx="13258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64208" y="238658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5-Layer Qualification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127248" y="2386584"/>
            <a:ext cx="13258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27248" y="238658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Inventory Matching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590288" y="2386584"/>
            <a:ext cx="13258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90288" y="238658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Recommendation AI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053328" y="2386584"/>
            <a:ext cx="13258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53328" y="238658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Negotiation AI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516368" y="2386584"/>
            <a:ext cx="13258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16368" y="238658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Trade-In Valuator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74320" y="3154680"/>
            <a:ext cx="1280160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315468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PHASE 3  TRANSACTION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1664208" y="3209544"/>
            <a:ext cx="13258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64208" y="320954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Test Drive AI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127248" y="3209544"/>
            <a:ext cx="13258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27248" y="320954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Multi-Currency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590288" y="3209544"/>
            <a:ext cx="13258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90288" y="320954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Warranty Gate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053328" y="3209544"/>
            <a:ext cx="13258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53328" y="320954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Shipping AI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516368" y="3209544"/>
            <a:ext cx="13258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16368" y="320954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Document AI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74320" y="3977640"/>
            <a:ext cx="128016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397764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PHASE 4  RETENTION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664208" y="4032504"/>
            <a:ext cx="13258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664208" y="403250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Day 7 Follow-Up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3127248" y="4032504"/>
            <a:ext cx="13258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127248" y="403250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Review AI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590288" y="4032504"/>
            <a:ext cx="13258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90288" y="403250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Upsell Agent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053328" y="4032504"/>
            <a:ext cx="13258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53328" y="403250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Service Reminder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516368" y="4032504"/>
            <a:ext cx="13258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16368" y="403250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Manager Dashboard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8732520" y="4297680"/>
            <a:ext cx="0" cy="-2743200"/>
          </a:xfrm>
          <a:prstGeom prst="line">
            <a:avLst/>
          </a:prstGeom>
          <a:noFill/>
          <a:ln w="25400">
            <a:solidFill>
              <a:srgbClr val="0D9488"/>
            </a:solidFill>
            <a:prstDash val="dash"/>
          </a:ln>
        </p:spPr>
      </p:sp>
      <p:sp>
        <p:nvSpPr>
          <p:cNvPr id="66" name="Text 64"/>
          <p:cNvSpPr/>
          <p:nvPr/>
        </p:nvSpPr>
        <p:spPr>
          <a:xfrm>
            <a:off x="8503920" y="2560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4B8A6"/>
                </a:solidFill>
              </a:rPr>
              <a:t>↺ Feedback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4B8A6"/>
                </a:solidFill>
              </a:rPr>
              <a:t>Loop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</a:rPr>
              <a:t>Competitive Landscape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274320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868680"/>
          <a:ext cx="83210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22960"/>
                <a:gridCol w="2560320"/>
                <a:gridCol w="3749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Gap vs AutoMind 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🇺🇸 USA/Global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Messaging, reviews, payments, AI receptionist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tool — not automotive-specific. No voice cloning, no multilingual AI, no full journey.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Matador 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🇺🇸 USA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Calls, SMS, email, social — 1,500+ dealers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only · No Arabic · No WhatsApp · Wrong channels for UAE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🇺🇸 USA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AI receptionist + Smart Inbox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franchise DMS only · Cannot function in UAE or UK SME market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Impel 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🇺🇸 USA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AI OS — Sales, Service, Marketing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pricing · English only · Months of setup · Too large for SME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🇺🇸 USA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Inbound call AI + DMS booking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only · US regulations · Zero multilingual support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🇦🇪 UAE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retail platform + AI assistant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Moved to enterprise · Abandoned UAE SME showrooms · No WhatsApp 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BizzyCar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🇺🇸 USA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+ maintenance revenue automation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US-only · No international roadmap whatsoever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11480" y="4526280"/>
            <a:ext cx="8321040" cy="36576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454456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✓  No single competitor covers UAE + USA + UK with multilingual AI, voice cloning, end-to-end automation, and SME-calibrated approach.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</a:rPr>
              <a:t>Why AutoMind OS Wins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292608"/>
            <a:ext cx="5486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</a:rPr>
              <a:t>12 unfair advantages — none of which can be replicated quickly by existing competitors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19659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07008"/>
            <a:ext cx="19659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3350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💬  WhatsApp-First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1208" y="16642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Built on WA Business API. Not adapted. Native.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87752" y="1207008"/>
            <a:ext cx="19659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87752" y="1207008"/>
            <a:ext cx="19659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13350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🎙️  Voice Cloning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97480" y="16642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Salesperson's exact voice. Unique IP per client.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64024" y="1207008"/>
            <a:ext cx="19659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64024" y="1207008"/>
            <a:ext cx="19659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3350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🌍  15+ Languages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73752" y="16642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1-second detection. Mid-call switching. Any market.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0296" y="1207008"/>
            <a:ext cx="19659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40296" y="1207008"/>
            <a:ext cx="19659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50024" y="13350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📱  Social DM AI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50024" y="16642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TikTok, Instagram, Facebook DMs automated.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2441448"/>
            <a:ext cx="19659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2441448"/>
            <a:ext cx="19659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25694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📋  UAE Compliance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" y="28986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VAT, Emirates ID, RTA — US players can't offer this.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87752" y="2441448"/>
            <a:ext cx="19659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87752" y="2441448"/>
            <a:ext cx="19659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97480" y="25694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⚡  7-Day Deploy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97480" y="28986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No DMS required. Month-to-month. No lock-in.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64024" y="2441448"/>
            <a:ext cx="19659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64024" y="2441448"/>
            <a:ext cx="19659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25694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🔄  End-to-End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73752" y="28986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20 agents. Full journey. Not one feature.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940296" y="2441448"/>
            <a:ext cx="19659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940296" y="2441448"/>
            <a:ext cx="19659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50024" y="25694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🤝  SME-Calibrated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50024" y="28986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Right size, right scope for independent showrooms.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11480" y="3675888"/>
            <a:ext cx="19659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11480" y="3675888"/>
            <a:ext cx="19659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" y="38039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🔗  Portal Integration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1208" y="41330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Dubizzle + YallaMotor + Haraj native sync.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587752" y="3675888"/>
            <a:ext cx="19659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587752" y="3675888"/>
            <a:ext cx="19659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97480" y="38039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📦  Inventory AI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697480" y="41330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Demand prediction and overstock reduction built-in.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64024" y="3675888"/>
            <a:ext cx="19659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64024" y="3675888"/>
            <a:ext cx="19659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73752" y="38039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💰  Financing AI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873752" y="41330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Pre-approvals and payment simulation in-chat.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940296" y="3675888"/>
            <a:ext cx="19659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940296" y="3675888"/>
            <a:ext cx="19659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50024" y="38039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🔁  Feedback Loop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050024" y="41330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System gets smarter with every sale. Compounds.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💼  For the Sales Team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</a:rPr>
              <a:t>What to say. Who to target. How to close.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4069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80160"/>
            <a:ext cx="54864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350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Ideal Client Profile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57276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UAE: Independent showrooms, 11–200 staff, $1M–$75M revenue, selling new or used cars. Owner/GM is the decision maker. They personally feel the pain of missed calls.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2212848"/>
            <a:ext cx="4069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212848"/>
            <a:ext cx="54864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2677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Opening Hook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250545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"How many WhatsApp leads did your team not reply to in the last 24 hours?" Let them feel the pain before you pitch the solution.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3145536"/>
            <a:ext cx="4069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3145536"/>
            <a:ext cx="54864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2004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Key Objection: 'We have staff for this'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343814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"Your staff sleep, take breaks, go on test drives, and miss 40% of calls. AutoMind OS doesn't. It handles overflow — not replacement."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4078224"/>
            <a:ext cx="4069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4078224"/>
            <a:ext cx="54864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41330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Key Objection: 'We're not ready for AI'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" y="437083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"It takes 7 days to deploy and we handle everything. You don't touch the technology. You just start getting more leads converted."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1280160"/>
            <a:ext cx="4069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280160"/>
            <a:ext cx="54864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13350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First Demo to Show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28032" y="157276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Live WhatsApp bot responding in under 30 seconds. Show the client sending a message and getting an instant, intelligent Arabic/English reply.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212848"/>
            <a:ext cx="4069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212848"/>
            <a:ext cx="54864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22677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ROI Framing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28032" y="250545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"If AutoMind OS helps you close just 2 extra cars per month — at your average commission — how long does it take to pay for itself?" Let them do the math.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3145536"/>
            <a:ext cx="4069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145536"/>
            <a:ext cx="54864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32004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Pilot Offer Script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28032" y="343814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"We'll deploy the WhatsApp qualification agent free for 30 days. Zero risk. You get a full ROI report at the end. Fair?"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4078224"/>
            <a:ext cx="4069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4078224"/>
            <a:ext cx="54864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41330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Expansion Upsell Path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28032" y="437083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Start: WhatsApp bot only. Month 2: Add inbound call AI. Month 3: Add retention flows. Each module adds value and stickiness.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📣  For the Marketing Team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</a:rPr>
              <a:t>Positioning, messaging, and channel strategy for AutoMind OS.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61872"/>
            <a:ext cx="269748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990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Core Positioning Statement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1764792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"The world's first WhatsApp-native, voice-cloned, multilingual AI operating system for car showrooms." Own every word of this. No competitor can say all of it at once.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55848" y="1261872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55848" y="1261872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08" y="13990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Primary Target Audience (UAE)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93008" y="1764792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Male, 35–55, showroom owner or GM, Arabic or South Asian background, active on WhatsApp, frustrated with staff reliability and lead conversion. Responds to ROI and peer proof.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00216" y="1261872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0216" y="1261872"/>
            <a:ext cx="269748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990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Key Message Pillars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37376" y="1764792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① Never miss a lead again  ② Your AI sounds exactly like Ahmed  ③ Built for UAE — not adapted from America  ④ Live in 7 days, no contract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044952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044952"/>
            <a:ext cx="2697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1821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Content That Will Convert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547872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Case study videos: showroom owner before/after. Demo video: WhatsApp bot responding instantly in Arabic. LinkedIn posts: '40% of your calls go unanswered. Here's what that costs.'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55848" y="3044952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55848" y="3044952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93008" y="31821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Channel Priority (UAE)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93008" y="3547872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① WhatsApp direct outreach to warm contacts  ② LinkedIn for decision makers  ③ Instagram for brand awareness  ④ Automotive trade events (Dubai Motor Show, etc.)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300216" y="3044952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00216" y="3044952"/>
            <a:ext cx="269748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1821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Proof to Build First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37376" y="3547872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One real UAE client case study with real numbers (leads captured, response time, conversions) is worth 1,000 feature slides. Build the product. Get the proof. Then scale marketing.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Build Roadmap &amp;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292608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41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</a:rPr>
              <a:t>What each team does from today.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965960" cy="356616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196596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Weeks 1–2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Build MVP Agent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90195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 WhatsApp lead capture bot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" y="2432304"/>
            <a:ext cx="173736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56032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 5-question qualification flow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" y="3090672"/>
            <a:ext cx="173736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21868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 Appointment booking integration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" y="3749040"/>
            <a:ext cx="173736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87705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 Test with internal dummy leads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78608" y="1234440"/>
            <a:ext cx="1965960" cy="356616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78608" y="1234440"/>
            <a:ext cx="1965960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70048" y="126187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Weeks 3–4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70048" y="1463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Internal QA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88336" y="190195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 Test all conversation flows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688336" y="2432304"/>
            <a:ext cx="173736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88336" y="256032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 Fix edge cases and errors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688336" y="3090672"/>
            <a:ext cx="173736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88336" y="321868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 Arabic + English language test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688336" y="3749040"/>
            <a:ext cx="173736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88336" y="387705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 Simulate real showroom scenarios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91456" y="1234440"/>
            <a:ext cx="1965960" cy="356616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91456" y="1234440"/>
            <a:ext cx="1965960" cy="5669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82896" y="126187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Weeks 5–8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82896" y="1463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Pilot Deployment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01184" y="190195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 Deploy free to 1–2 UAE contacts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01184" y="2432304"/>
            <a:ext cx="173736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01184" y="256032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 Monitor all conversations live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901184" y="3090672"/>
            <a:ext cx="173736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01184" y="321868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 Collect real performance data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901184" y="3749040"/>
            <a:ext cx="173736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01184" y="387705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 Document everything for case study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004304" y="1234440"/>
            <a:ext cx="1965960" cy="356616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04304" y="1234440"/>
            <a:ext cx="196596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95744" y="126187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Weeks 9–12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095744" y="1463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Convert &amp; Scale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114032" y="190195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 Convert pilots to paid clients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114032" y="2432304"/>
            <a:ext cx="173736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14032" y="256032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 Build inbound call AI module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114032" y="3090672"/>
            <a:ext cx="173736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14032" y="321868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 Pitch 3 more warm contacts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114032" y="3749040"/>
            <a:ext cx="173736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14032" y="387705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 Prepare investor-ready data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65760" y="4709160"/>
            <a:ext cx="8394192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47274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Goal: 3 paying clients with real data → then raise investment or self-fund expansion. Build first. Sell second. Raise third.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AutoMind OS — Internal Product Brief</dc:title>
  <dc:subject>PptxGenJS Presentation</dc:subject>
  <dc:creator>AutoMind OS</dc:creator>
  <cp:lastModifiedBy>AutoMind OS</cp:lastModifiedBy>
  <cp:revision>1</cp:revision>
  <dcterms:created xsi:type="dcterms:W3CDTF">2026-04-20T04:40:33Z</dcterms:created>
  <dcterms:modified xsi:type="dcterms:W3CDTF">2026-04-20T04:40:33Z</dcterms:modified>
</cp:coreProperties>
</file>